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7f8db4403954225" /><Relationship Type="http://schemas.openxmlformats.org/officeDocument/2006/relationships/extended-properties" Target="/docProps/app.xml" Id="R4cbf1578d60a4f1e" /><Relationship Type="http://schemas.openxmlformats.org/officeDocument/2006/relationships/officeDocument" Target="/ppt/presentation.xml" Id="R8a1b04155ea24d1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019970ed6f645cc"/>
  </p:sldMasterIdLst>
  <p:notesMasterIdLst>
    <p:notesMasterId xmlns:r="http://schemas.openxmlformats.org/officeDocument/2006/relationships" r:id="R08ea2949189a4699"/>
  </p:notesMasterIdLst>
  <p:sldIdLst>
    <p:sldId xmlns:r="http://schemas.openxmlformats.org/officeDocument/2006/relationships" id="256" r:id="R96817fc8a0714036"/>
    <p:sldId xmlns:r="http://schemas.openxmlformats.org/officeDocument/2006/relationships" id="257" r:id="R3e55c5c2e0bf426f"/>
    <p:sldId xmlns:r="http://schemas.openxmlformats.org/officeDocument/2006/relationships" id="258" r:id="R1682fb1568264b1d"/>
    <p:sldId xmlns:r="http://schemas.openxmlformats.org/officeDocument/2006/relationships" id="259" r:id="R37747ff59940435f"/>
    <p:sldId xmlns:r="http://schemas.openxmlformats.org/officeDocument/2006/relationships" id="260" r:id="R2cff445969ce46de"/>
    <p:sldId xmlns:r="http://schemas.openxmlformats.org/officeDocument/2006/relationships" id="261" r:id="R536819bfe1d3445b"/>
    <p:sldId xmlns:r="http://schemas.openxmlformats.org/officeDocument/2006/relationships" id="262" r:id="R738c6b9bdefb46b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4b57f7623654ffa" /><Relationship Type="http://schemas.openxmlformats.org/officeDocument/2006/relationships/slideMaster" Target="/ppt/slideMasters/slideMaster1.xml" Id="R0019970ed6f645cc" /><Relationship Type="http://schemas.openxmlformats.org/officeDocument/2006/relationships/notesMaster" Target="/ppt/notesMasters/notesMaster1.xml" Id="R08ea2949189a4699" /><Relationship Type="http://schemas.openxmlformats.org/officeDocument/2006/relationships/presProps" Target="/ppt/presProps.xml" Id="R14de942f2db54032" /><Relationship Type="http://schemas.openxmlformats.org/officeDocument/2006/relationships/tableStyles" Target="/ppt/tableStyles.xml" Id="R688238ce12ad405d" /><Relationship Type="http://schemas.openxmlformats.org/officeDocument/2006/relationships/slide" Target="/ppt/slides/slide1.xml" Id="R96817fc8a0714036" /><Relationship Type="http://schemas.openxmlformats.org/officeDocument/2006/relationships/slide" Target="/ppt/slides/slide2.xml" Id="R3e55c5c2e0bf426f" /><Relationship Type="http://schemas.openxmlformats.org/officeDocument/2006/relationships/slide" Target="/ppt/slides/slide3.xml" Id="R1682fb1568264b1d" /><Relationship Type="http://schemas.openxmlformats.org/officeDocument/2006/relationships/slide" Target="/ppt/slides/slide4.xml" Id="R37747ff59940435f" /><Relationship Type="http://schemas.openxmlformats.org/officeDocument/2006/relationships/slide" Target="/ppt/slides/slide5.xml" Id="R2cff445969ce46de" /><Relationship Type="http://schemas.openxmlformats.org/officeDocument/2006/relationships/slide" Target="/ppt/slides/slide6.xml" Id="R536819bfe1d3445b" /><Relationship Type="http://schemas.openxmlformats.org/officeDocument/2006/relationships/slide" Target="/ppt/slides/slide7.xml" Id="R738c6b9bdefb46b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18df3be3d9f45b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e0e4ddaaea04ac2" /><Relationship Type="http://schemas.openxmlformats.org/officeDocument/2006/relationships/notesMaster" Target="/ppt/notesMasters/notesMaster1.xml" Id="R14bcb917faf14b5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78be697fb1e4cb8" /><Relationship Type="http://schemas.openxmlformats.org/officeDocument/2006/relationships/notesMaster" Target="/ppt/notesMasters/notesMaster1.xml" Id="R7330a746e2f5482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461857d4c3b40a4" /><Relationship Type="http://schemas.openxmlformats.org/officeDocument/2006/relationships/notesMaster" Target="/ppt/notesMasters/notesMaster1.xml" Id="Rf616863869b0459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838567838d84599" /><Relationship Type="http://schemas.openxmlformats.org/officeDocument/2006/relationships/notesMaster" Target="/ppt/notesMasters/notesMaster1.xml" Id="Rdc6608c42ee248f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fd8dcf73416427b" /><Relationship Type="http://schemas.openxmlformats.org/officeDocument/2006/relationships/notesMaster" Target="/ppt/notesMasters/notesMaster1.xml" Id="R2ba231eccdfc4d7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cb11c4aa04f430c" /><Relationship Type="http://schemas.openxmlformats.org/officeDocument/2006/relationships/notesMaster" Target="/ppt/notesMasters/notesMaster1.xml" Id="Rc07da45787a74d9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70ef86101794a57" /><Relationship Type="http://schemas.openxmlformats.org/officeDocument/2006/relationships/notesMaster" Target="/ppt/notesMasters/notesMaster1.xml" Id="R77b6c45b669d461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2b74f00191462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049570f8854400e" /><Relationship Type="http://schemas.openxmlformats.org/officeDocument/2006/relationships/slideLayout" Target="/ppt/slideLayouts/slideLayout1.xml" Id="R016e8832eb8646b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16e8832eb8646b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c4f03286ce4164" /><Relationship Type="http://schemas.openxmlformats.org/officeDocument/2006/relationships/notesSlide" Target="/ppt/notesSlides/notesSlide1.xml" Id="R28f4dd6860d64af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16e7e2e98c4237" /><Relationship Type="http://schemas.openxmlformats.org/officeDocument/2006/relationships/notesSlide" Target="/ppt/notesSlides/notesSlide2.xml" Id="R2dccae106f54488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43c53e62d04fe0" /><Relationship Type="http://schemas.openxmlformats.org/officeDocument/2006/relationships/notesSlide" Target="/ppt/notesSlides/notesSlide3.xml" Id="R4c9458fc80c34d2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b30d9003b74cc0" /><Relationship Type="http://schemas.openxmlformats.org/officeDocument/2006/relationships/notesSlide" Target="/ppt/notesSlides/notesSlide4.xml" Id="R197a96bd8dbe4a7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ef64d3a5a74aaf" /><Relationship Type="http://schemas.openxmlformats.org/officeDocument/2006/relationships/chart" Target="/ppt/slides/charts/chart1.xml" Id="Rb580895131fe4402" /><Relationship Type="http://schemas.openxmlformats.org/officeDocument/2006/relationships/notesSlide" Target="/ppt/notesSlides/notesSlide5.xml" Id="R089073f90f334e6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86b3b11a2440ec" /><Relationship Type="http://schemas.openxmlformats.org/officeDocument/2006/relationships/notesSlide" Target="/ppt/notesSlides/notesSlide6.xml" Id="Rcbec96b15531495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c5546492e9437b" /><Relationship Type="http://schemas.openxmlformats.org/officeDocument/2006/relationships/notesSlide" Target="/ppt/notesSlides/notesSlide7.xml" Id="R2b549b1a95c5420a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Revenue (€k)</c:v>
          </c:tx>
          <c:spPr>
            <a:solidFill xmlns:a="http://schemas.openxmlformats.org/drawingml/2006/main">
              <a:srgbClr val="246BFD"/>
            </a:solidFill>
          </c:spPr>
          <c:cat>
            <c:strLit>
              <c:ptCount val="2"/>
              <c:pt idx="0">
                <c:v>Current pilots</c:v>
              </c:pt>
              <c:pt idx="1">
                <c:v>12-month target</c:v>
              </c:pt>
            </c:strLit>
          </c:cat>
          <c:val>
            <c:numLit>
              <c:formatCode>General</c:formatCode>
              <c:ptCount val="2"/>
              <c:pt idx="0">
                <c:v>180</c:v>
              </c:pt>
              <c:pt idx="1">
                <c:v>1200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4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3EA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  <c:majorUnit val="200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1435A9-3F4D-49B3-B646-929CAE988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1000"/>
            <a:ext cx="22669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3B9437-21D5-42B4-BD98-24F915BB3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0525"/>
            <a:ext cx="2038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6BF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46BFD"/>
                </a:solidFill>
                <a:latin typeface="Helvetica Neue"/>
                <a:ea typeface="Helvetica Neue"/>
                <a:cs typeface="Helvetica Neue"/>
              </a:rPr>
              <a:t>SEED · INDUSTRIAL ROBOTICS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B3EE45-4A68-4CF3-9D6B-AC884459B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14450"/>
            <a:ext cx="5619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Aether</a:t>
            </a:r>
          </a:p>
          <a:p xmlns:a="http://schemas.openxmlformats.org/drawingml/2006/main">
            <a:pPr algn="l">
              <a:defRPr sz="48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Robotics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50B3BC-EE90-4FE4-B5C2-D8EE2889B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33750"/>
            <a:ext cx="5429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Inspection intelligence for industrial sites — from sensor run to engineering decision.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747D6E-67C8-4C17-8F80-0D285F7AA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704850"/>
            <a:ext cx="5162550" cy="5105400"/>
          </a:xfrm>
          <a:prstGeom xmlns:a="http://schemas.openxmlformats.org/drawingml/2006/main" prst="roundRect">
            <a:avLst>
              <a:gd name="adj" fmla="val 2985"/>
            </a:avLst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5C2A69-A030-4E7D-A0A8-D9C7F3B79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1049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FB3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8FB3FF"/>
                </a:solidFill>
                <a:latin typeface="Helvetica Neue"/>
                <a:ea typeface="Helvetica Neue"/>
                <a:cs typeface="Helvetica Neue"/>
              </a:rPr>
              <a:t>THE ROUND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311A04-E432-40DC-8615-F660C8E48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5811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€100,000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4B9292-0345-40F3-A85B-77A1926CE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24790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for 1% equity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6666A6-107E-473F-968D-CA96DC40E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009900"/>
            <a:ext cx="40767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40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6D522B-FB37-4BBE-AAD1-31ED43649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2575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8C4D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B8C4D6"/>
                </a:solidFill>
                <a:latin typeface="Helvetica Neue"/>
                <a:ea typeface="Helvetica Neue"/>
                <a:cs typeface="Helvetica Neue"/>
              </a:rPr>
              <a:t>Pre-money valuation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80E6E5-DEE9-4D40-9FE5-F5791D85A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23850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€9.9m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8CCB69-5A14-4E89-85A8-20812FCD2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6576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8C4D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B8C4D6"/>
                </a:solidFill>
                <a:latin typeface="Helvetica Neue"/>
                <a:ea typeface="Helvetica Neue"/>
                <a:cs typeface="Helvetica Neue"/>
              </a:rPr>
              <a:t>Post-money valuation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AE4CAC-8A6C-4B47-B9E3-A5A795C11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63855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€10.0m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36B68F-9FF5-4B26-9F55-2C8353A4E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400550"/>
            <a:ext cx="4076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9E2F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D9E2F0"/>
                </a:solidFill>
                <a:latin typeface="Helvetica Neue"/>
                <a:ea typeface="Helvetica Neue"/>
                <a:cs typeface="Helvetica Neue"/>
              </a:rPr>
              <a:t>Investment requested: EUR 100,000</a:t>
            </a:r>
          </a:p>
          <a:p xmlns:a="http://schemas.openxmlformats.org/drawingml/2006/main">
            <a:pPr algn="l">
              <a:defRPr sz="1125" b="0">
                <a:solidFill>
                  <a:srgbClr val="D9E2F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D9E2F0"/>
                </a:solidFill>
                <a:latin typeface="Helvetica Neue"/>
                <a:ea typeface="Helvetica Neue"/>
                <a:cs typeface="Helvetica Neue"/>
              </a:rPr>
              <a:t>Equity offered: 1%</a:t>
            </a:r>
          </a:p>
          <a:p xmlns:a="http://schemas.openxmlformats.org/drawingml/2006/main">
            <a:pPr algn="l">
              <a:defRPr sz="1125" b="0">
                <a:solidFill>
                  <a:srgbClr val="D9E2F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D9E2F0"/>
                </a:solidFill>
                <a:latin typeface="Helvetica Neue"/>
                <a:ea typeface="Helvetica Neue"/>
                <a:cs typeface="Helvetica Neue"/>
              </a:rPr>
              <a:t>Pre-money: EUR 9,900,000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473509-8E30-44C7-A3BB-225AF6CC8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198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Fictional company · generated for upload validation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A1C09B-732F-4AE3-8732-C57E0EF61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315616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FE8543-5AC2-4A1D-9DE0-AE1FB75FD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6BF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46BFD"/>
                </a:solidFill>
                <a:latin typeface="Helvetica Neue"/>
                <a:ea typeface="Helvetica Neue"/>
                <a:cs typeface="Helvetica Neue"/>
              </a:rPr>
              <a:t>WHY NOW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3CEB04-65E9-4DE7-B657-282549B6C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096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Inspection data is abundant. Decisions are still slow.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B9F52E-6B0E-4B1C-86E0-02A5D91A0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811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Engineering teams lose context between capture, review and remediation.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FC203F-DAF3-432A-ABBA-EF3991872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1985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AETHER ROBOTICS  ·  FICTIONAL UPLOAD FIXTURE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6215A6-53AF-40CC-928E-A27942B9F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556C55-6C52-4CAE-9DF7-FBE663A5A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38350"/>
            <a:ext cx="5257800" cy="3676650"/>
          </a:xfrm>
          <a:prstGeom xmlns:a="http://schemas.openxmlformats.org/drawingml/2006/main" prst="roundRect">
            <a:avLst>
              <a:gd name="adj" fmla="val 4145"/>
            </a:avLst>
          </a:prstGeom>
          <a:solidFill xmlns:a="http://schemas.openxmlformats.org/drawingml/2006/main">
            <a:srgbClr val="F1F4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3B3DC9-3BB8-4259-B64F-DDA20C53F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050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645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D64545"/>
                </a:solidFill>
                <a:latin typeface="Helvetica Neue"/>
                <a:ea typeface="Helvetica Neue"/>
                <a:cs typeface="Helvetica Neue"/>
              </a:rPr>
              <a:t>Today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C708AA-8DED-4E26-A6A6-5C6FD3F1E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4381500" cy="224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01  Fragmented sensor exports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02  Manual anomaly triage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03  Reports arrive after the shift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04  No reusable site-level history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4446E5-5707-46D0-8B7F-3890B8691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038350"/>
            <a:ext cx="5791200" cy="3676650"/>
          </a:xfrm>
          <a:prstGeom xmlns:a="http://schemas.openxmlformats.org/drawingml/2006/main" prst="roundRect">
            <a:avLst>
              <a:gd name="adj" fmla="val 4145"/>
            </a:avLst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76584A-3544-4C96-8A46-520EBB1BD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050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83DCE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83DCEA"/>
                </a:solidFill>
                <a:latin typeface="Helvetica Neue"/>
                <a:ea typeface="Helvetica Neue"/>
                <a:cs typeface="Helvetica Neue"/>
              </a:rPr>
              <a:t>With Aether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4210C7-7907-487B-905F-3C837C1B1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099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Capture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E99541-4112-4AA8-A29F-C6858ED00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00990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83DCE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83DCEA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4EAD17-8844-482C-BB2E-6B4A70A3E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099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EED11D-01C9-4A65-AA5A-EC99EC9BF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00990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83DCE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83DCEA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9DE3E7-5B43-485F-A0C6-ECA98F9AD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0099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Decide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85380C-BFFD-4AFE-88E4-072EB65C4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86200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9E2F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D9E2F0"/>
                </a:solidFill>
                <a:latin typeface="Helvetica Neue"/>
                <a:ea typeface="Helvetica Neue"/>
                <a:cs typeface="Helvetica Neue"/>
              </a:rPr>
              <a:t>Robot-mounted sensors and review software combine each field run into a traceable decision package for engineering teams.</a:t>
            </a:r>
          </a:p>
        </p:txBody>
      </p:sp>
    </p:spTree>
    <p:extLst>
      <p:ext uri="{BB962C8B-B14F-4D97-AF65-F5344CB8AC3E}">
        <p14:creationId xmlns:p14="http://schemas.microsoft.com/office/powerpoint/2010/main" val="21063254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D7CA3B-66C5-44AC-AF73-8A9E4A617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6BF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46BFD"/>
                </a:solidFill>
                <a:latin typeface="Helvetica Neue"/>
                <a:ea typeface="Helvetica Neue"/>
                <a:cs typeface="Helvetica Neue"/>
              </a:rPr>
              <a:t>PRODUCT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9C5CE8-1CF1-4769-9E6D-4BDDD13DB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096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One workflow from site capture to verified action.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7A9966-E732-41AB-94BE-FEEF0EA16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811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The system is designed around existing inspection teams, not a rip-and-replace program.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25343D-41B7-43B5-AECD-8B1C80EC1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1985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AETHER ROBOTICS  ·  FICTIONAL UPLOAD FIXTURE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45EC66-D9D7-4513-AD23-C7793ACA6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7BCC6E-755A-4123-B4A8-8B36F908E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152650"/>
            <a:ext cx="3562350" cy="331470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56564E-9691-4190-8514-86039FDEA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38400"/>
            <a:ext cx="5334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6B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A05940-3EDC-426E-8EA6-2B114482C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38400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478251-C13A-4CBE-9E2C-581D85661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SENSE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51737C-606A-4E6F-939C-E2573BE32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2952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Robot-mounted payload records thermal, visual and acoustic signals.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98FD20-3244-4AEA-98C9-7001808E6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52650"/>
            <a:ext cx="3562350" cy="331470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FAA972-2B13-4A67-92AB-60C8DF286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438400"/>
            <a:ext cx="5334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824092-9FD4-4403-A826-F32A13E1F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438400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8FF32B-7289-4DBB-84F7-14C0C8885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2766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TRIAGE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715EA6-3E61-46FF-BB85-0153C0C0A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848100"/>
            <a:ext cx="2952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Review software groups anomalies and keeps source evidence attached.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4A65F2-7D0A-402E-8333-3436D46DB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52650"/>
            <a:ext cx="3562350" cy="331470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DB34A5-A87C-4E0B-9998-042C05D4A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38400"/>
            <a:ext cx="5334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A9B7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CB28F5-05A7-40BA-B7B9-A29270D2C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38400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544245-E8CF-4F01-9E15-EB7927F32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2766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DECIDE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0F06F1-564C-4D36-ACF2-F7A12BD64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848100"/>
            <a:ext cx="2952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Engineers approve findings and export a concise remediation brief.</a:t>
            </a:r>
          </a:p>
        </p:txBody>
      </p:sp>
    </p:spTree>
    <p:extLst>
      <p:ext uri="{BB962C8B-B14F-4D97-AF65-F5344CB8AC3E}">
        <p14:creationId xmlns:p14="http://schemas.microsoft.com/office/powerpoint/2010/main" val="200894231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82486C-2AE0-4134-94AB-54F59DAE4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6BF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46BFD"/>
                </a:solidFill>
                <a:latin typeface="Helvetica Neue"/>
                <a:ea typeface="Helvetica Neue"/>
                <a:cs typeface="Helvetica Neue"/>
              </a:rPr>
              <a:t>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D3C0D5-1540-4946-B52B-346B1D54B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096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Early traction is paid, field-tested and specific.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D12A86-BB19-494A-8AB1-E42D9D543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811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The next milestone is repeatability across sites — not another lab prototype.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B121CC-1024-4E47-9055-3B3B7F598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1985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AETHER ROBOTICS  ·  FICTIONAL UPLOAD FIXTURE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32900E-7E0C-45B8-AAAB-5644E368A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F3466A-76A8-436A-99A5-270B20779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09800"/>
            <a:ext cx="3562350" cy="2686050"/>
          </a:xfrm>
          <a:prstGeom xmlns:a="http://schemas.openxmlformats.org/drawingml/2006/main" prst="roundRect">
            <a:avLst>
              <a:gd name="adj" fmla="val 5674"/>
            </a:avLst>
          </a:prstGeom>
          <a:solidFill xmlns:a="http://schemas.openxmlformats.org/drawingml/2006/main">
            <a:srgbClr val="F1F4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2160DE-95B8-4876-A236-10E0BA885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9525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6B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A04284-510E-4BD0-8D8B-DD3CFC615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5745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C5BE13-EFAB-4BFC-8FB4-842FE4C0F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05200"/>
            <a:ext cx="2990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paid design partners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83CE38-458D-44C7-BD15-B91B330B8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09800"/>
            <a:ext cx="3562350" cy="2686050"/>
          </a:xfrm>
          <a:prstGeom xmlns:a="http://schemas.openxmlformats.org/drawingml/2006/main" prst="roundRect">
            <a:avLst>
              <a:gd name="adj" fmla="val 5674"/>
            </a:avLst>
          </a:prstGeom>
          <a:solidFill xmlns:a="http://schemas.openxmlformats.org/drawingml/2006/main">
            <a:srgbClr val="F1F4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3468C1-44F7-4B29-A38F-040732D9A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476500"/>
            <a:ext cx="9525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A9B7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121E6D-14A4-40BD-8D0D-609120A5F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45745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€180k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E55460-8095-430F-B883-214765799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505200"/>
            <a:ext cx="2990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current pilot revenue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01FA61-70E1-48EF-8CA2-EDBB1FBA0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209800"/>
            <a:ext cx="3562350" cy="2686050"/>
          </a:xfrm>
          <a:prstGeom xmlns:a="http://schemas.openxmlformats.org/drawingml/2006/main" prst="roundRect">
            <a:avLst>
              <a:gd name="adj" fmla="val 5674"/>
            </a:avLst>
          </a:prstGeom>
          <a:solidFill xmlns:a="http://schemas.openxmlformats.org/drawingml/2006/main">
            <a:srgbClr val="F1F4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622CA4-7884-4557-BFFF-66FB9F51F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76500"/>
            <a:ext cx="9525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DCD580-1C71-4938-8B47-C6355C5CF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45745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F2A73D-F360-47ED-807A-F94D3F584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505200"/>
            <a:ext cx="2990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field-tested sensor payload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C27735-5F57-4291-98B6-947A6747C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219700"/>
            <a:ext cx="1135380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83868D-20B6-4A84-95C6-BA0EFF8DE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530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Current revenue: EUR 180,000  ·  Profit/Loss: loss-making  ·  Two paid industrial design partners</a:t>
            </a:r>
          </a:p>
        </p:txBody>
      </p:sp>
    </p:spTree>
    <p:extLst>
      <p:ext uri="{BB962C8B-B14F-4D97-AF65-F5344CB8AC3E}">
        <p14:creationId xmlns:p14="http://schemas.microsoft.com/office/powerpoint/2010/main" val="60133719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CACC5B-A6DF-4CD6-BDE5-EEB875479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6BF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46BFD"/>
                </a:solidFill>
                <a:latin typeface="Helvetica Neue"/>
                <a:ea typeface="Helvetica Neue"/>
                <a:cs typeface="Helvetica Neue"/>
              </a:rPr>
              <a:t>ECONOMICS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689467-2D17-4EC5-B6E8-4F59544FD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096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Pilot revenue creates the path to recurring site programs.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928D84-C465-49B4-B32E-339119205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811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Illustrative management plan; values are fictional and intended for evaluation testing.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A3896B-1905-48C2-A20F-7EE1A51D5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1985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AETHER ROBOTICS  ·  FICTIONAL UPLOAD FIXTURE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FBCC63-7D42-4F27-8AE7-BECFF9C41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014F7E-3320-44D9-927A-95C44D8E2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38350"/>
            <a:ext cx="6572250" cy="38862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graphicFrame>
        <p:nvGraphicFramePr>
          <p:cNvPr id="23" name="Chart"/>
          <p:cNvGraphicFramePr/>
          <p:nvPr/>
        </p:nvGraphicFramePr>
        <p:xfrm>
          <a:off xmlns:a="http://schemas.openxmlformats.org/drawingml/2006/main" x="742950" y="2381250"/>
          <a:ext xmlns:a="http://schemas.openxmlformats.org/drawingml/2006/main" cx="5905500" cy="304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580895131fe4402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813827-764C-46A3-9408-05F974EF9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038350"/>
            <a:ext cx="445770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E7B454-8E9A-4CF9-899B-621FCEF86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266950"/>
            <a:ext cx="390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€115k / month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DE2526-679F-45A2-A56B-746F66DBF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6860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current burn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7D0974-A6DC-4CFE-97EC-FAD932382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390900"/>
            <a:ext cx="445770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E9F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4BF4E3-E3C2-4B61-9091-3D34421E2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619500"/>
            <a:ext cx="390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€1.2m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1FAB3C-1E58-4843-85B3-2872304EA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03860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projected annual revenue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13A45D-A0B1-42D9-850F-AC85B29FC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743450"/>
            <a:ext cx="4457700" cy="118110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1F4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CE9DBE-A5F9-4901-B7D0-DB0B31B9C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95300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6BF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46BFD"/>
                </a:solidFill>
                <a:latin typeface="Helvetica Neue"/>
                <a:ea typeface="Helvetica Neue"/>
                <a:cs typeface="Helvetica Neue"/>
              </a:rPr>
              <a:t>Model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86DE74-1525-44FA-9EFC-341C3CC20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238750"/>
            <a:ext cx="3905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Paid deployment → recurring site program</a:t>
            </a:r>
          </a:p>
        </p:txBody>
      </p:sp>
    </p:spTree>
    <p:extLst>
      <p:ext uri="{BB962C8B-B14F-4D97-AF65-F5344CB8AC3E}">
        <p14:creationId xmlns:p14="http://schemas.microsoft.com/office/powerpoint/2010/main" val="112874315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DF9A02-02DA-414A-AA84-A5AF33F36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6BF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46BFD"/>
                </a:solidFill>
                <a:latin typeface="Helvetica Neue"/>
                <a:ea typeface="Helvetica Neue"/>
                <a:cs typeface="Helvetica Neue"/>
              </a:rPr>
              <a:t>EXECUTION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F2780A-DC99-4F82-AF20-69A41ABF7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096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€100k funds one focused validation sprint.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8E553E-77C0-48F5-8141-671977A7B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811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The round is deliberately scoped to evidence that unlocks the next financing decision.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D987AF-04DA-4C03-BB4A-FDD58FB85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1985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AETHER ROBOTICS  ·  FICTIONAL UPLOAD FIXTURE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B3E87B-3E01-461F-8BDC-DD8919D38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ECBCA4-2879-4739-B834-3ADC0BC2D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104775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182340-DFBD-48D4-A7CF-73D340BF1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9560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6B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DA781C-7EA3-49CF-AF24-1584711DD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9560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EFA774-9419-428B-B290-B731F9ED0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385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0–30 days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67E91C-66B4-4FD8-8904-C7E681EA9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HARDEN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30925D-B0CC-450F-8016-5CBF152E4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1960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Ruggedize payload and close field issues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FC3CB6-E56E-42F6-9563-1B677B8EC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89560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772E2D-9DA1-4B4C-9367-A78F2DCEF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89560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D16396-F0B2-4B4D-B0C5-CD106B7F7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6385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31–60 days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DD1EB7-26A9-4E75-AEE6-49349DF3C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00050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REPEAT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E500F7-67D7-413C-B19C-63C422507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41960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Run two additional paid site workflows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959820-3733-4716-ACD6-A2DE606B4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9560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A9B7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664EB5-B591-450A-8EBB-364C24DB1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9560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25D8BA-B3F5-4D24-AF3F-640AA737B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61–90 days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65DC27-286E-4D5C-A877-EB53F3FD3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00050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PROVE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8238E1-C5AA-4057-9C73-8D4537830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41960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Publish repeatability and conversion metrics</a:t>
            </a:r>
          </a:p>
        </p:txBody>
      </p:sp>
    </p:spTree>
    <p:extLst>
      <p:ext uri="{BB962C8B-B14F-4D97-AF65-F5344CB8AC3E}">
        <p14:creationId xmlns:p14="http://schemas.microsoft.com/office/powerpoint/2010/main" val="98731871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85955F-0CD6-4950-B42C-97589095F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6BF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46BFD"/>
                </a:solidFill>
                <a:latin typeface="Helvetica Neue"/>
                <a:ea typeface="Helvetica Neue"/>
                <a:cs typeface="Helvetica Neue"/>
              </a:rPr>
              <a:t>THE ASK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C1AFCB-A6B0-48C5-8E98-2E09616AD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096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A compact team, a precise milestone, a clear term.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539ADF-2380-4FC4-A79F-DBDD9C0F4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1985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AETHER ROBOTICS  ·  FICTIONAL UPLOAD FIXTURE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2DFD70-129E-4EFD-8573-0B7CE4C6B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D9E7DC-4807-4355-A167-896616FD1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790700"/>
            <a:ext cx="5219700" cy="3848100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AF7286-A171-4D9F-8561-A427D6D2B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Maya Chen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3B220F-9C50-456F-9D14-0F6ECB820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6BF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46BFD"/>
                </a:solidFill>
                <a:latin typeface="Helvetica Neue"/>
                <a:ea typeface="Helvetica Neue"/>
                <a:cs typeface="Helvetica Neue"/>
              </a:rPr>
              <a:t>Co-founder &amp; CEO · robotics systems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F672B8-9F38-4611-9817-602BFD661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42672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10+ years across autonomy, industrial deployment and customer discovery. Led multidisciplinary teams from prototype to field acceptance.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6E2AC4-0362-41AC-A7AA-1C5370C9D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624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Lukas Weber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1E707C-6F0A-401C-9756-7FB0152BB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053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A6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A6A6"/>
                </a:solidFill>
                <a:latin typeface="Helvetica Neue"/>
                <a:ea typeface="Helvetica Neue"/>
                <a:cs typeface="Helvetica Neue"/>
              </a:rPr>
              <a:t>Co-founder &amp; CTO · perception software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9492D3-5EDE-48A1-B700-A46CD9691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790700"/>
            <a:ext cx="5829300" cy="3848100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4781E0-BACD-4717-B32A-048D78740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907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FB3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8FB3FF"/>
                </a:solidFill>
                <a:latin typeface="Helvetica Neue"/>
                <a:ea typeface="Helvetica Neue"/>
                <a:cs typeface="Helvetica Neue"/>
              </a:rPr>
              <a:t>INVESTMENT REQUESTED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981000-32C9-4628-B9E4-7818DCDE7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28900"/>
            <a:ext cx="476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€100,000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C45C0D-8C3A-4FE1-BBCD-48A38E689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766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for 1% equity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A97829-BC43-482B-80BE-08EB48C88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9433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9E2F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D9E2F0"/>
                </a:solidFill>
                <a:latin typeface="Helvetica Neue"/>
                <a:ea typeface="Helvetica Neue"/>
                <a:cs typeface="Helvetica Neue"/>
              </a:rPr>
              <a:t>Pre-money €9.9m  ·  Post-money €10.0m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CA2A30-B5EC-415C-B5B1-AE0B6E31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95800"/>
            <a:ext cx="4762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40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7A9855-1D44-497C-8F9F-9F24E80B1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743450"/>
            <a:ext cx="476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9E2F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D9E2F0"/>
                </a:solidFill>
                <a:latin typeface="Helvetica Neue"/>
                <a:ea typeface="Helvetica Neue"/>
                <a:cs typeface="Helvetica Neue"/>
              </a:rPr>
              <a:t>Use of funds: payload hardening, two site runs and repeatability evidence.</a:t>
            </a:r>
          </a:p>
        </p:txBody>
      </p:sp>
    </p:spTree>
    <p:extLst>
      <p:ext uri="{BB962C8B-B14F-4D97-AF65-F5344CB8AC3E}">
        <p14:creationId xmlns:p14="http://schemas.microsoft.com/office/powerpoint/2010/main" val="16623943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2026-07-19T01:43:28.9540000Z</dcterms:created>
  <dcterms:modified xsi:type="dcterms:W3CDTF">2026-07-19T01:43:28.9540000Z</dcterms:modified>
</coreProperties>
</file>